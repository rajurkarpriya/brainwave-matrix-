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3"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321268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2685687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779816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4048122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A46B4A-BDAE-4D29-B49C-F5D82B7D9898}" type="datetimeFigureOut">
              <a:rPr lang="en-IN" smtClean="0"/>
              <a:t>05-04-2025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2444878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A46B4A-BDAE-4D29-B49C-F5D82B7D9898}" type="datetimeFigureOut">
              <a:rPr lang="en-IN" smtClean="0"/>
              <a:t>05-04-2025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362345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A46B4A-BDAE-4D29-B49C-F5D82B7D9898}" type="datetimeFigureOut">
              <a:rPr lang="en-IN" smtClean="0"/>
              <a:t>05-04-2025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4110043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298397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3861351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3273049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91482A7-F9D5-4D3D-BF3F-A01DEBD47F9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08086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12723645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1482A7-F9D5-4D3D-BF3F-A01DEBD47F9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2697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FA46B4A-BDAE-4D29-B49C-F5D82B7D9898}" type="datetimeFigureOut">
              <a:rPr lang="en-IN" smtClean="0"/>
              <a:t>05-04-2025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604293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16013501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A46B4A-BDAE-4D29-B49C-F5D82B7D9898}" type="datetimeFigureOut">
              <a:rPr lang="en-IN" smtClean="0"/>
              <a:t>05-04-2025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91482A7-F9D5-4D3D-BF3F-A01DEBD47F99}" type="slidenum">
              <a:rPr lang="en-IN" smtClean="0"/>
              <a:t>‹#›</a:t>
            </a:fld>
            <a:endParaRPr lang="en-IN"/>
          </a:p>
        </p:txBody>
      </p:sp>
    </p:spTree>
    <p:extLst>
      <p:ext uri="{BB962C8B-B14F-4D97-AF65-F5344CB8AC3E}">
        <p14:creationId xmlns:p14="http://schemas.microsoft.com/office/powerpoint/2010/main" val="21873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FA46B4A-BDAE-4D29-B49C-F5D82B7D9898}" type="datetimeFigureOut">
              <a:rPr lang="en-IN" smtClean="0"/>
              <a:t>05-04-2025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91482A7-F9D5-4D3D-BF3F-A01DEBD47F99}" type="slidenum">
              <a:rPr lang="en-IN" smtClean="0"/>
              <a:t>‹#›</a:t>
            </a:fld>
            <a:endParaRPr lang="en-IN"/>
          </a:p>
        </p:txBody>
      </p:sp>
    </p:spTree>
    <p:extLst>
      <p:ext uri="{BB962C8B-B14F-4D97-AF65-F5344CB8AC3E}">
        <p14:creationId xmlns:p14="http://schemas.microsoft.com/office/powerpoint/2010/main" val="587671360"/>
      </p:ext>
    </p:extLst>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 id="2147483873" r:id="rId10"/>
    <p:sldLayoutId id="2147483874" r:id="rId11"/>
    <p:sldLayoutId id="2147483875" r:id="rId12"/>
    <p:sldLayoutId id="2147483876" r:id="rId13"/>
    <p:sldLayoutId id="2147483877" r:id="rId14"/>
    <p:sldLayoutId id="2147483878" r:id="rId15"/>
    <p:sldLayoutId id="214748387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80220-A54F-4F9A-94C9-ACB48C2D4099}"/>
              </a:ext>
            </a:extLst>
          </p:cNvPr>
          <p:cNvSpPr>
            <a:spLocks noGrp="1"/>
          </p:cNvSpPr>
          <p:nvPr>
            <p:ph type="ctrTitle"/>
          </p:nvPr>
        </p:nvSpPr>
        <p:spPr>
          <a:xfrm>
            <a:off x="2589212" y="954338"/>
            <a:ext cx="8915399" cy="2262781"/>
          </a:xfrm>
        </p:spPr>
        <p:txBody>
          <a:bodyPr>
            <a:normAutofit fontScale="90000"/>
          </a:bodyPr>
          <a:lstStyle/>
          <a:p>
            <a:r>
              <a:rPr lang="en-IN" b="1" i="0" dirty="0">
                <a:solidFill>
                  <a:srgbClr val="202124"/>
                </a:solidFill>
                <a:effectLst/>
                <a:latin typeface="zeitung"/>
              </a:rPr>
              <a:t>Social Media-Analysis Sentiment</a:t>
            </a:r>
            <a:br>
              <a:rPr lang="en-IN" b="1" i="0" dirty="0">
                <a:solidFill>
                  <a:srgbClr val="202124"/>
                </a:solidFill>
                <a:effectLst/>
                <a:latin typeface="zeitung"/>
              </a:rPr>
            </a:br>
            <a:endParaRPr lang="en-IN" dirty="0"/>
          </a:p>
        </p:txBody>
      </p:sp>
      <p:sp>
        <p:nvSpPr>
          <p:cNvPr id="3" name="Subtitle 2">
            <a:extLst>
              <a:ext uri="{FF2B5EF4-FFF2-40B4-BE49-F238E27FC236}">
                <a16:creationId xmlns:a16="http://schemas.microsoft.com/office/drawing/2014/main" id="{6FEC8F01-AC09-48BA-B422-91760ECB59C9}"/>
              </a:ext>
            </a:extLst>
          </p:cNvPr>
          <p:cNvSpPr>
            <a:spLocks noGrp="1"/>
          </p:cNvSpPr>
          <p:nvPr>
            <p:ph type="subTitle" idx="1"/>
          </p:nvPr>
        </p:nvSpPr>
        <p:spPr>
          <a:xfrm>
            <a:off x="2369127" y="2812473"/>
            <a:ext cx="9135485" cy="3091189"/>
          </a:xfrm>
        </p:spPr>
        <p:txBody>
          <a:bodyPr>
            <a:normAutofit/>
          </a:bodyPr>
          <a:lstStyle/>
          <a:p>
            <a:r>
              <a:rPr lang="en-US" dirty="0"/>
              <a:t>This project focuses on sentiment analysis of social media data collected from multiple platforms such as Twitter, Instagram, and Facebook. The goal is to analyze user-generated content to identify emotional expressions, understand engagement patterns, and uncover trending hashtags across various countries and time zones. By examining sentiments, platform usage, post timing, and audience interactions (likes and retweets), the project provides actionable insights into public opinion and digital engagement behavior.</a:t>
            </a:r>
          </a:p>
          <a:p>
            <a:r>
              <a:rPr lang="en-US" dirty="0"/>
              <a:t>--Priya </a:t>
            </a:r>
            <a:r>
              <a:rPr lang="en-US" dirty="0" err="1"/>
              <a:t>Rajurkar</a:t>
            </a:r>
            <a:r>
              <a:rPr lang="en-US" dirty="0"/>
              <a:t> </a:t>
            </a:r>
            <a:endParaRPr lang="en-IN" dirty="0"/>
          </a:p>
        </p:txBody>
      </p:sp>
    </p:spTree>
    <p:extLst>
      <p:ext uri="{BB962C8B-B14F-4D97-AF65-F5344CB8AC3E}">
        <p14:creationId xmlns:p14="http://schemas.microsoft.com/office/powerpoint/2010/main" val="311454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2276-79A9-4FD5-A66B-645BE2EA3BBE}"/>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8852A17C-D4DB-48C4-93E9-45A03DFA0AC4}"/>
              </a:ext>
            </a:extLst>
          </p:cNvPr>
          <p:cNvSpPr>
            <a:spLocks noGrp="1"/>
          </p:cNvSpPr>
          <p:nvPr>
            <p:ph idx="1"/>
          </p:nvPr>
        </p:nvSpPr>
        <p:spPr/>
        <p:txBody>
          <a:bodyPr>
            <a:normAutofit lnSpcReduction="10000"/>
          </a:bodyPr>
          <a:lstStyle/>
          <a:p>
            <a:r>
              <a:rPr lang="en-US" dirty="0"/>
              <a:t>This project involves analyzing a sentiment dataset derived from social media posts across platforms like Twitter, Facebook, and Instagram. The dataset contains information such as text content, user sentiment, posting time, platform, location, and engagement metrics like likes and retweets. The objective is to understand the emotional tone expressed in the posts and identify patterns in user behavior, platform activity, and regional engagement.</a:t>
            </a:r>
          </a:p>
          <a:p>
            <a:r>
              <a:rPr lang="en-US" dirty="0"/>
              <a:t>Using Python and data analysis techniques, we extracted key insights such as the most common sentiments, peak hours of posting, top countries contributing to the data, and the most engaging content based on likes and retweets. Additionally, we explored trending hashtags to understand what topics are resonating with users. These insights can be valuable for businesses, marketers, and researchers aiming to enhance social media strategies, monitor brand sentiment, or study public opinion trends.</a:t>
            </a:r>
          </a:p>
          <a:p>
            <a:endParaRPr lang="en-IN" dirty="0"/>
          </a:p>
        </p:txBody>
      </p:sp>
    </p:spTree>
    <p:extLst>
      <p:ext uri="{BB962C8B-B14F-4D97-AF65-F5344CB8AC3E}">
        <p14:creationId xmlns:p14="http://schemas.microsoft.com/office/powerpoint/2010/main" val="3818647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150C-54A6-45DF-B59C-A8BD84D860E8}"/>
              </a:ext>
            </a:extLst>
          </p:cNvPr>
          <p:cNvSpPr>
            <a:spLocks noGrp="1"/>
          </p:cNvSpPr>
          <p:nvPr>
            <p:ph type="title"/>
          </p:nvPr>
        </p:nvSpPr>
        <p:spPr/>
        <p:txBody>
          <a:bodyPr/>
          <a:lstStyle/>
          <a:p>
            <a:r>
              <a:rPr lang="en-IN" dirty="0"/>
              <a:t>Technologies Used:</a:t>
            </a:r>
          </a:p>
        </p:txBody>
      </p:sp>
      <p:sp>
        <p:nvSpPr>
          <p:cNvPr id="3" name="Content Placeholder 2">
            <a:extLst>
              <a:ext uri="{FF2B5EF4-FFF2-40B4-BE49-F238E27FC236}">
                <a16:creationId xmlns:a16="http://schemas.microsoft.com/office/drawing/2014/main" id="{6B69709C-8D7C-4458-A221-93460E033862}"/>
              </a:ext>
            </a:extLst>
          </p:cNvPr>
          <p:cNvSpPr>
            <a:spLocks noGrp="1"/>
          </p:cNvSpPr>
          <p:nvPr>
            <p:ph idx="1"/>
          </p:nvPr>
        </p:nvSpPr>
        <p:spPr/>
        <p:txBody>
          <a:bodyPr/>
          <a:lstStyle/>
          <a:p>
            <a:r>
              <a:rPr lang="en-US" dirty="0"/>
              <a:t>This project was developed using </a:t>
            </a:r>
            <a:r>
              <a:rPr lang="en-US" b="1" dirty="0"/>
              <a:t>Python</a:t>
            </a:r>
            <a:r>
              <a:rPr lang="en-US" dirty="0"/>
              <a:t> for data analysis and visualization. Key libraries included </a:t>
            </a:r>
            <a:r>
              <a:rPr lang="en-US" b="1" dirty="0"/>
              <a:t>Pandas</a:t>
            </a:r>
            <a:r>
              <a:rPr lang="en-US" dirty="0"/>
              <a:t> for data manipulation, </a:t>
            </a:r>
            <a:r>
              <a:rPr lang="en-US" b="1" dirty="0"/>
              <a:t>Matplotlib</a:t>
            </a:r>
            <a:r>
              <a:rPr lang="en-US" dirty="0"/>
              <a:t> and </a:t>
            </a:r>
            <a:r>
              <a:rPr lang="en-US" b="1" dirty="0"/>
              <a:t>Seaborn</a:t>
            </a:r>
            <a:r>
              <a:rPr lang="en-US" dirty="0"/>
              <a:t> for creating visual insights, and </a:t>
            </a:r>
            <a:r>
              <a:rPr lang="en-US" b="1" dirty="0"/>
              <a:t>Collections</a:t>
            </a:r>
            <a:r>
              <a:rPr lang="en-US" dirty="0"/>
              <a:t> and </a:t>
            </a:r>
            <a:r>
              <a:rPr lang="en-US" b="1" dirty="0"/>
              <a:t>Regex</a:t>
            </a:r>
            <a:r>
              <a:rPr lang="en-US" dirty="0"/>
              <a:t> for processing and analyzing hashtags. The dataset was handled in </a:t>
            </a:r>
            <a:r>
              <a:rPr lang="en-US" b="1" dirty="0"/>
              <a:t>CSV</a:t>
            </a:r>
            <a:r>
              <a:rPr lang="en-US" dirty="0"/>
              <a:t> format and analyzed in a </a:t>
            </a:r>
            <a:r>
              <a:rPr lang="en-US" b="1" dirty="0" err="1"/>
              <a:t>Jupyter</a:t>
            </a:r>
            <a:r>
              <a:rPr lang="en-US" b="1" dirty="0"/>
              <a:t> Notebook</a:t>
            </a:r>
            <a:r>
              <a:rPr lang="en-US" dirty="0"/>
              <a:t> environment to explore trends, distributions, and engagement metrics across different dimensions such as sentiment, time, and platform</a:t>
            </a:r>
            <a:endParaRPr lang="en-IN" dirty="0"/>
          </a:p>
        </p:txBody>
      </p:sp>
    </p:spTree>
    <p:extLst>
      <p:ext uri="{BB962C8B-B14F-4D97-AF65-F5344CB8AC3E}">
        <p14:creationId xmlns:p14="http://schemas.microsoft.com/office/powerpoint/2010/main" val="1948480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B08B-442D-46FE-BECC-F631D607A114}"/>
              </a:ext>
            </a:extLst>
          </p:cNvPr>
          <p:cNvSpPr>
            <a:spLocks noGrp="1"/>
          </p:cNvSpPr>
          <p:nvPr>
            <p:ph type="title"/>
          </p:nvPr>
        </p:nvSpPr>
        <p:spPr>
          <a:xfrm>
            <a:off x="1565565" y="180110"/>
            <a:ext cx="9939048" cy="1155970"/>
          </a:xfrm>
        </p:spPr>
        <p:txBody>
          <a:bodyPr>
            <a:normAutofit fontScale="90000"/>
          </a:bodyPr>
          <a:lstStyle/>
          <a:p>
            <a:r>
              <a:rPr lang="en-US" dirty="0"/>
              <a:t>Step 1 – Importing Libraries and reading data </a:t>
            </a:r>
            <a:endParaRPr lang="en-IN" dirty="0"/>
          </a:p>
        </p:txBody>
      </p:sp>
      <p:pic>
        <p:nvPicPr>
          <p:cNvPr id="5" name="Content Placeholder 4">
            <a:extLst>
              <a:ext uri="{FF2B5EF4-FFF2-40B4-BE49-F238E27FC236}">
                <a16:creationId xmlns:a16="http://schemas.microsoft.com/office/drawing/2014/main" id="{C0CBE1CD-9282-4BB4-A215-95B0E5F8008E}"/>
              </a:ext>
            </a:extLst>
          </p:cNvPr>
          <p:cNvPicPr>
            <a:picLocks noGrp="1" noChangeAspect="1"/>
          </p:cNvPicPr>
          <p:nvPr>
            <p:ph idx="1"/>
          </p:nvPr>
        </p:nvPicPr>
        <p:blipFill>
          <a:blip r:embed="rId2"/>
          <a:stretch>
            <a:fillRect/>
          </a:stretch>
        </p:blipFill>
        <p:spPr>
          <a:xfrm>
            <a:off x="838199" y="1690688"/>
            <a:ext cx="5332725" cy="13255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08EB3065-3556-4D47-BE86-FA7AC739DB3F}"/>
              </a:ext>
            </a:extLst>
          </p:cNvPr>
          <p:cNvPicPr>
            <a:picLocks noChangeAspect="1"/>
          </p:cNvPicPr>
          <p:nvPr/>
        </p:nvPicPr>
        <p:blipFill>
          <a:blip r:embed="rId3"/>
          <a:stretch>
            <a:fillRect/>
          </a:stretch>
        </p:blipFill>
        <p:spPr>
          <a:xfrm>
            <a:off x="6476999" y="1690688"/>
            <a:ext cx="5257801" cy="11559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9C53DB55-E38A-48A3-9739-985785C164DD}"/>
              </a:ext>
            </a:extLst>
          </p:cNvPr>
          <p:cNvPicPr>
            <a:picLocks noChangeAspect="1"/>
          </p:cNvPicPr>
          <p:nvPr/>
        </p:nvPicPr>
        <p:blipFill>
          <a:blip r:embed="rId4"/>
          <a:stretch>
            <a:fillRect/>
          </a:stretch>
        </p:blipFill>
        <p:spPr>
          <a:xfrm>
            <a:off x="838199" y="3269348"/>
            <a:ext cx="10702637" cy="32235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6028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FF0E3-C598-48F1-ACCF-1D52FFE30602}"/>
              </a:ext>
            </a:extLst>
          </p:cNvPr>
          <p:cNvSpPr>
            <a:spLocks noGrp="1"/>
          </p:cNvSpPr>
          <p:nvPr>
            <p:ph type="title"/>
          </p:nvPr>
        </p:nvSpPr>
        <p:spPr/>
        <p:txBody>
          <a:bodyPr/>
          <a:lstStyle/>
          <a:p>
            <a:r>
              <a:rPr lang="en-US" dirty="0"/>
              <a:t>Step 2 – Checking Data Types</a:t>
            </a:r>
            <a:endParaRPr lang="en-IN" dirty="0"/>
          </a:p>
        </p:txBody>
      </p:sp>
      <p:pic>
        <p:nvPicPr>
          <p:cNvPr id="5" name="Content Placeholder 4">
            <a:extLst>
              <a:ext uri="{FF2B5EF4-FFF2-40B4-BE49-F238E27FC236}">
                <a16:creationId xmlns:a16="http://schemas.microsoft.com/office/drawing/2014/main" id="{DED29855-F0D5-42F0-92D0-2BA2B54C89B1}"/>
              </a:ext>
            </a:extLst>
          </p:cNvPr>
          <p:cNvPicPr>
            <a:picLocks noGrp="1" noChangeAspect="1"/>
          </p:cNvPicPr>
          <p:nvPr>
            <p:ph idx="1"/>
          </p:nvPr>
        </p:nvPicPr>
        <p:blipFill>
          <a:blip r:embed="rId2"/>
          <a:stretch>
            <a:fillRect/>
          </a:stretch>
        </p:blipFill>
        <p:spPr>
          <a:xfrm>
            <a:off x="4216544" y="1506609"/>
            <a:ext cx="2863129" cy="43789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4731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B8CE-0FF4-42AE-A202-3912A46C10D9}"/>
              </a:ext>
            </a:extLst>
          </p:cNvPr>
          <p:cNvSpPr>
            <a:spLocks noGrp="1"/>
          </p:cNvSpPr>
          <p:nvPr>
            <p:ph type="title"/>
          </p:nvPr>
        </p:nvSpPr>
        <p:spPr/>
        <p:txBody>
          <a:bodyPr/>
          <a:lstStyle/>
          <a:p>
            <a:r>
              <a:rPr lang="en-US" dirty="0"/>
              <a:t>Step 3 – Finding Null Values</a:t>
            </a:r>
            <a:endParaRPr lang="en-IN" dirty="0"/>
          </a:p>
        </p:txBody>
      </p:sp>
      <p:pic>
        <p:nvPicPr>
          <p:cNvPr id="5" name="Content Placeholder 4">
            <a:extLst>
              <a:ext uri="{FF2B5EF4-FFF2-40B4-BE49-F238E27FC236}">
                <a16:creationId xmlns:a16="http://schemas.microsoft.com/office/drawing/2014/main" id="{B7C7DE04-BD01-49A0-8730-3E7239A90C8A}"/>
              </a:ext>
            </a:extLst>
          </p:cNvPr>
          <p:cNvPicPr>
            <a:picLocks noGrp="1" noChangeAspect="1"/>
          </p:cNvPicPr>
          <p:nvPr>
            <p:ph idx="1"/>
          </p:nvPr>
        </p:nvPicPr>
        <p:blipFill>
          <a:blip r:embed="rId2"/>
          <a:stretch>
            <a:fillRect/>
          </a:stretch>
        </p:blipFill>
        <p:spPr>
          <a:xfrm>
            <a:off x="4659922" y="1539874"/>
            <a:ext cx="2433605" cy="49286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56088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6341D-E00E-4BA2-B2C7-2ABFDEFC7717}"/>
              </a:ext>
            </a:extLst>
          </p:cNvPr>
          <p:cNvSpPr>
            <a:spLocks noGrp="1"/>
          </p:cNvSpPr>
          <p:nvPr>
            <p:ph type="title"/>
          </p:nvPr>
        </p:nvSpPr>
        <p:spPr/>
        <p:txBody>
          <a:bodyPr/>
          <a:lstStyle/>
          <a:p>
            <a:r>
              <a:rPr lang="en-US" dirty="0"/>
              <a:t>Step 4- Insights </a:t>
            </a:r>
            <a:endParaRPr lang="en-IN" dirty="0"/>
          </a:p>
        </p:txBody>
      </p:sp>
      <p:sp>
        <p:nvSpPr>
          <p:cNvPr id="3" name="Content Placeholder 2">
            <a:extLst>
              <a:ext uri="{FF2B5EF4-FFF2-40B4-BE49-F238E27FC236}">
                <a16:creationId xmlns:a16="http://schemas.microsoft.com/office/drawing/2014/main" id="{E577FD73-8C74-4B24-9A2C-92FAA83ADBD0}"/>
              </a:ext>
            </a:extLst>
          </p:cNvPr>
          <p:cNvSpPr>
            <a:spLocks noGrp="1"/>
          </p:cNvSpPr>
          <p:nvPr>
            <p:ph idx="1"/>
          </p:nvPr>
        </p:nvSpPr>
        <p:spPr>
          <a:xfrm>
            <a:off x="982084" y="1427019"/>
            <a:ext cx="8915400" cy="3777622"/>
          </a:xfrm>
        </p:spPr>
        <p:txBody>
          <a:bodyPr>
            <a:normAutofit/>
          </a:bodyPr>
          <a:lstStyle/>
          <a:p>
            <a:r>
              <a:rPr lang="en-IN" sz="2400" b="1" dirty="0"/>
              <a:t>1] Sentiment Distribution Plot</a:t>
            </a:r>
          </a:p>
        </p:txBody>
      </p:sp>
      <p:pic>
        <p:nvPicPr>
          <p:cNvPr id="5" name="Picture 4">
            <a:extLst>
              <a:ext uri="{FF2B5EF4-FFF2-40B4-BE49-F238E27FC236}">
                <a16:creationId xmlns:a16="http://schemas.microsoft.com/office/drawing/2014/main" id="{289D345F-75E4-4415-B943-F38DC4A23929}"/>
              </a:ext>
            </a:extLst>
          </p:cNvPr>
          <p:cNvPicPr>
            <a:picLocks noChangeAspect="1"/>
          </p:cNvPicPr>
          <p:nvPr/>
        </p:nvPicPr>
        <p:blipFill>
          <a:blip r:embed="rId2"/>
          <a:stretch>
            <a:fillRect/>
          </a:stretch>
        </p:blipFill>
        <p:spPr>
          <a:xfrm>
            <a:off x="547254" y="1915655"/>
            <a:ext cx="5124450" cy="2800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21D9925C-E50F-4F0F-9854-5C519DE0BDF2}"/>
              </a:ext>
            </a:extLst>
          </p:cNvPr>
          <p:cNvPicPr>
            <a:picLocks noChangeAspect="1"/>
          </p:cNvPicPr>
          <p:nvPr/>
        </p:nvPicPr>
        <p:blipFill>
          <a:blip r:embed="rId3"/>
          <a:stretch>
            <a:fillRect/>
          </a:stretch>
        </p:blipFill>
        <p:spPr>
          <a:xfrm>
            <a:off x="5962650" y="1825625"/>
            <a:ext cx="6151418" cy="42840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Graphic 8" descr="Arrow Rotate left">
            <a:extLst>
              <a:ext uri="{FF2B5EF4-FFF2-40B4-BE49-F238E27FC236}">
                <a16:creationId xmlns:a16="http://schemas.microsoft.com/office/drawing/2014/main" id="{4C4BFD2E-9764-41C1-8185-D6153B865F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5304617">
            <a:off x="4800458" y="4828979"/>
            <a:ext cx="914400" cy="914400"/>
          </a:xfrm>
          <a:prstGeom prst="rect">
            <a:avLst/>
          </a:prstGeom>
        </p:spPr>
      </p:pic>
    </p:spTree>
    <p:extLst>
      <p:ext uri="{BB962C8B-B14F-4D97-AF65-F5344CB8AC3E}">
        <p14:creationId xmlns:p14="http://schemas.microsoft.com/office/powerpoint/2010/main" val="16705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BD740-866F-49A0-97F1-08D3366329CB}"/>
              </a:ext>
            </a:extLst>
          </p:cNvPr>
          <p:cNvSpPr>
            <a:spLocks noGrp="1"/>
          </p:cNvSpPr>
          <p:nvPr>
            <p:ph idx="1"/>
          </p:nvPr>
        </p:nvSpPr>
        <p:spPr>
          <a:xfrm>
            <a:off x="838200" y="387927"/>
            <a:ext cx="10515600" cy="5789036"/>
          </a:xfrm>
        </p:spPr>
        <p:txBody>
          <a:bodyPr>
            <a:normAutofit/>
          </a:bodyPr>
          <a:lstStyle/>
          <a:p>
            <a:r>
              <a:rPr lang="en-IN" sz="2400" b="1" dirty="0"/>
              <a:t>2] Platform Distribution Plot</a:t>
            </a:r>
          </a:p>
        </p:txBody>
      </p:sp>
      <p:pic>
        <p:nvPicPr>
          <p:cNvPr id="7" name="Picture 6">
            <a:extLst>
              <a:ext uri="{FF2B5EF4-FFF2-40B4-BE49-F238E27FC236}">
                <a16:creationId xmlns:a16="http://schemas.microsoft.com/office/drawing/2014/main" id="{43FEC04A-F0A4-4136-A96B-5D8E6AE454AE}"/>
              </a:ext>
            </a:extLst>
          </p:cNvPr>
          <p:cNvPicPr>
            <a:picLocks noChangeAspect="1"/>
          </p:cNvPicPr>
          <p:nvPr/>
        </p:nvPicPr>
        <p:blipFill>
          <a:blip r:embed="rId2"/>
          <a:stretch>
            <a:fillRect/>
          </a:stretch>
        </p:blipFill>
        <p:spPr>
          <a:xfrm>
            <a:off x="566521" y="996445"/>
            <a:ext cx="5343525" cy="2286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5872C9EA-53B7-4B5C-86D7-41F576DA8454}"/>
              </a:ext>
            </a:extLst>
          </p:cNvPr>
          <p:cNvPicPr>
            <a:picLocks noChangeAspect="1"/>
          </p:cNvPicPr>
          <p:nvPr/>
        </p:nvPicPr>
        <p:blipFill>
          <a:blip r:embed="rId3"/>
          <a:stretch>
            <a:fillRect/>
          </a:stretch>
        </p:blipFill>
        <p:spPr>
          <a:xfrm>
            <a:off x="5460098" y="1945698"/>
            <a:ext cx="6343650" cy="45243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Graphic 8" descr="Arrow Rotate right">
            <a:extLst>
              <a:ext uri="{FF2B5EF4-FFF2-40B4-BE49-F238E27FC236}">
                <a16:creationId xmlns:a16="http://schemas.microsoft.com/office/drawing/2014/main" id="{216F1BEE-6650-4B2D-8EDB-58932CE073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81725" y="1013872"/>
            <a:ext cx="914400" cy="914400"/>
          </a:xfrm>
          <a:prstGeom prst="rect">
            <a:avLst/>
          </a:prstGeom>
        </p:spPr>
      </p:pic>
    </p:spTree>
    <p:extLst>
      <p:ext uri="{BB962C8B-B14F-4D97-AF65-F5344CB8AC3E}">
        <p14:creationId xmlns:p14="http://schemas.microsoft.com/office/powerpoint/2010/main" val="633860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3A2D2C-93AD-4959-8A56-A705BBBA9330}"/>
              </a:ext>
            </a:extLst>
          </p:cNvPr>
          <p:cNvSpPr>
            <a:spLocks noGrp="1"/>
          </p:cNvSpPr>
          <p:nvPr>
            <p:ph idx="1"/>
          </p:nvPr>
        </p:nvSpPr>
        <p:spPr>
          <a:xfrm>
            <a:off x="654194" y="157380"/>
            <a:ext cx="10515600" cy="6024563"/>
          </a:xfrm>
        </p:spPr>
        <p:txBody>
          <a:bodyPr>
            <a:normAutofit/>
          </a:bodyPr>
          <a:lstStyle/>
          <a:p>
            <a:r>
              <a:rPr lang="en-US" sz="2400" b="1" dirty="0"/>
              <a:t>3] Country Distribution Plot (Top 10)</a:t>
            </a:r>
            <a:endParaRPr lang="en-IN" sz="2400" b="1" dirty="0"/>
          </a:p>
        </p:txBody>
      </p:sp>
      <p:pic>
        <p:nvPicPr>
          <p:cNvPr id="5" name="Picture 4">
            <a:extLst>
              <a:ext uri="{FF2B5EF4-FFF2-40B4-BE49-F238E27FC236}">
                <a16:creationId xmlns:a16="http://schemas.microsoft.com/office/drawing/2014/main" id="{2B56A7AE-554B-4B6B-AEF1-B6E47D2B3EAB}"/>
              </a:ext>
            </a:extLst>
          </p:cNvPr>
          <p:cNvPicPr>
            <a:picLocks noChangeAspect="1"/>
          </p:cNvPicPr>
          <p:nvPr/>
        </p:nvPicPr>
        <p:blipFill>
          <a:blip r:embed="rId2"/>
          <a:stretch>
            <a:fillRect/>
          </a:stretch>
        </p:blipFill>
        <p:spPr>
          <a:xfrm>
            <a:off x="439882" y="787761"/>
            <a:ext cx="5753100" cy="22383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63561020-B18D-44B0-919A-C1A3C8AFE807}"/>
              </a:ext>
            </a:extLst>
          </p:cNvPr>
          <p:cNvPicPr>
            <a:picLocks noChangeAspect="1"/>
          </p:cNvPicPr>
          <p:nvPr/>
        </p:nvPicPr>
        <p:blipFill>
          <a:blip r:embed="rId3"/>
          <a:stretch>
            <a:fillRect/>
          </a:stretch>
        </p:blipFill>
        <p:spPr>
          <a:xfrm>
            <a:off x="4727431" y="1633320"/>
            <a:ext cx="6810375" cy="5067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Graphic 7" descr="Arrow Rotate left">
            <a:extLst>
              <a:ext uri="{FF2B5EF4-FFF2-40B4-BE49-F238E27FC236}">
                <a16:creationId xmlns:a16="http://schemas.microsoft.com/office/drawing/2014/main" id="{0A4953FD-2912-4680-A8EE-FEF1DC882B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5304617">
            <a:off x="3511552" y="3204297"/>
            <a:ext cx="914400" cy="914400"/>
          </a:xfrm>
          <a:prstGeom prst="rect">
            <a:avLst/>
          </a:prstGeom>
        </p:spPr>
      </p:pic>
    </p:spTree>
    <p:extLst>
      <p:ext uri="{BB962C8B-B14F-4D97-AF65-F5344CB8AC3E}">
        <p14:creationId xmlns:p14="http://schemas.microsoft.com/office/powerpoint/2010/main" val="3713142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A048D-1977-4CCB-8167-A5B79345B491}"/>
              </a:ext>
            </a:extLst>
          </p:cNvPr>
          <p:cNvSpPr>
            <a:spLocks noGrp="1"/>
          </p:cNvSpPr>
          <p:nvPr>
            <p:ph idx="1"/>
          </p:nvPr>
        </p:nvSpPr>
        <p:spPr>
          <a:xfrm>
            <a:off x="390524" y="321902"/>
            <a:ext cx="10963276" cy="5855061"/>
          </a:xfrm>
        </p:spPr>
        <p:txBody>
          <a:bodyPr>
            <a:normAutofit/>
          </a:bodyPr>
          <a:lstStyle/>
          <a:p>
            <a:r>
              <a:rPr lang="en-US" sz="2400" b="1" dirty="0"/>
              <a:t>4] Engagement Analysis Plot (Likes &amp; Retweets by Top 10 Sentiments</a:t>
            </a:r>
            <a:r>
              <a:rPr lang="en-US" sz="2000" b="1" dirty="0"/>
              <a:t>)</a:t>
            </a:r>
            <a:endParaRPr lang="en-IN" sz="2000" b="1" dirty="0"/>
          </a:p>
        </p:txBody>
      </p:sp>
      <p:pic>
        <p:nvPicPr>
          <p:cNvPr id="5" name="Picture 4">
            <a:extLst>
              <a:ext uri="{FF2B5EF4-FFF2-40B4-BE49-F238E27FC236}">
                <a16:creationId xmlns:a16="http://schemas.microsoft.com/office/drawing/2014/main" id="{CABFEDC3-C8B3-440B-9F98-289535EDEA34}"/>
              </a:ext>
            </a:extLst>
          </p:cNvPr>
          <p:cNvPicPr>
            <a:picLocks noChangeAspect="1"/>
          </p:cNvPicPr>
          <p:nvPr/>
        </p:nvPicPr>
        <p:blipFill>
          <a:blip r:embed="rId2"/>
          <a:stretch>
            <a:fillRect/>
          </a:stretch>
        </p:blipFill>
        <p:spPr>
          <a:xfrm>
            <a:off x="614362" y="1181100"/>
            <a:ext cx="10963275" cy="22479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FF1E8E08-05A0-4AE3-A901-1898D59FB5EE}"/>
              </a:ext>
            </a:extLst>
          </p:cNvPr>
          <p:cNvPicPr>
            <a:picLocks noChangeAspect="1"/>
          </p:cNvPicPr>
          <p:nvPr/>
        </p:nvPicPr>
        <p:blipFill>
          <a:blip r:embed="rId3"/>
          <a:stretch>
            <a:fillRect/>
          </a:stretch>
        </p:blipFill>
        <p:spPr>
          <a:xfrm>
            <a:off x="5743575" y="2049823"/>
            <a:ext cx="6057900" cy="4486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Graphic 7" descr="Arrow Rotate left">
            <a:extLst>
              <a:ext uri="{FF2B5EF4-FFF2-40B4-BE49-F238E27FC236}">
                <a16:creationId xmlns:a16="http://schemas.microsoft.com/office/drawing/2014/main" id="{9B7847BF-9FF2-4EC1-82F9-467AAD5FF5B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5304617">
            <a:off x="4279182" y="3786263"/>
            <a:ext cx="914400" cy="914400"/>
          </a:xfrm>
          <a:prstGeom prst="rect">
            <a:avLst/>
          </a:prstGeom>
        </p:spPr>
      </p:pic>
    </p:spTree>
    <p:extLst>
      <p:ext uri="{BB962C8B-B14F-4D97-AF65-F5344CB8AC3E}">
        <p14:creationId xmlns:p14="http://schemas.microsoft.com/office/powerpoint/2010/main" val="974727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65915-45F0-4AE5-9464-D3E61A971CC2}"/>
              </a:ext>
            </a:extLst>
          </p:cNvPr>
          <p:cNvSpPr>
            <a:spLocks noGrp="1"/>
          </p:cNvSpPr>
          <p:nvPr>
            <p:ph idx="1"/>
          </p:nvPr>
        </p:nvSpPr>
        <p:spPr>
          <a:xfrm>
            <a:off x="838200" y="238559"/>
            <a:ext cx="10515600" cy="5938404"/>
          </a:xfrm>
        </p:spPr>
        <p:txBody>
          <a:bodyPr>
            <a:normAutofit/>
          </a:bodyPr>
          <a:lstStyle/>
          <a:p>
            <a:r>
              <a:rPr lang="en-IN" sz="2400" b="1" dirty="0"/>
              <a:t>5] Activity by Hour Plot</a:t>
            </a:r>
          </a:p>
        </p:txBody>
      </p:sp>
      <p:pic>
        <p:nvPicPr>
          <p:cNvPr id="7" name="Picture 6">
            <a:extLst>
              <a:ext uri="{FF2B5EF4-FFF2-40B4-BE49-F238E27FC236}">
                <a16:creationId xmlns:a16="http://schemas.microsoft.com/office/drawing/2014/main" id="{372C3880-CDA8-463E-908F-49117D5C4EB1}"/>
              </a:ext>
            </a:extLst>
          </p:cNvPr>
          <p:cNvPicPr>
            <a:picLocks noChangeAspect="1"/>
          </p:cNvPicPr>
          <p:nvPr/>
        </p:nvPicPr>
        <p:blipFill>
          <a:blip r:embed="rId2"/>
          <a:stretch>
            <a:fillRect/>
          </a:stretch>
        </p:blipFill>
        <p:spPr>
          <a:xfrm>
            <a:off x="581891" y="1307089"/>
            <a:ext cx="6096000"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D56893EC-0136-4DC4-ADCD-D1C6CAD24F0D}"/>
              </a:ext>
            </a:extLst>
          </p:cNvPr>
          <p:cNvPicPr>
            <a:picLocks noChangeAspect="1"/>
          </p:cNvPicPr>
          <p:nvPr/>
        </p:nvPicPr>
        <p:blipFill>
          <a:blip r:embed="rId3"/>
          <a:stretch>
            <a:fillRect/>
          </a:stretch>
        </p:blipFill>
        <p:spPr>
          <a:xfrm>
            <a:off x="5539653" y="2095066"/>
            <a:ext cx="6238875" cy="45243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Graphic 10" descr="Arrow Rotate right">
            <a:extLst>
              <a:ext uri="{FF2B5EF4-FFF2-40B4-BE49-F238E27FC236}">
                <a16:creationId xmlns:a16="http://schemas.microsoft.com/office/drawing/2014/main" id="{1CF5E6A9-42CB-42F3-92A0-C0ACBCA2C4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82271" y="1083145"/>
            <a:ext cx="914400" cy="914400"/>
          </a:xfrm>
          <a:prstGeom prst="rect">
            <a:avLst/>
          </a:prstGeom>
        </p:spPr>
      </p:pic>
    </p:spTree>
    <p:extLst>
      <p:ext uri="{BB962C8B-B14F-4D97-AF65-F5344CB8AC3E}">
        <p14:creationId xmlns:p14="http://schemas.microsoft.com/office/powerpoint/2010/main" val="3025804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02A2B03-37DF-4DEE-A9DE-CBF7EA6E6C63}"/>
              </a:ext>
            </a:extLst>
          </p:cNvPr>
          <p:cNvSpPr>
            <a:spLocks noGrp="1"/>
          </p:cNvSpPr>
          <p:nvPr>
            <p:ph idx="1"/>
          </p:nvPr>
        </p:nvSpPr>
        <p:spPr>
          <a:xfrm>
            <a:off x="838200" y="263236"/>
            <a:ext cx="10515600" cy="5913727"/>
          </a:xfrm>
        </p:spPr>
        <p:txBody>
          <a:bodyPr>
            <a:normAutofit/>
          </a:bodyPr>
          <a:lstStyle/>
          <a:p>
            <a:r>
              <a:rPr lang="en-IN" sz="2400" b="1" dirty="0"/>
              <a:t>6] Top Hashtags Plot</a:t>
            </a:r>
          </a:p>
        </p:txBody>
      </p:sp>
      <p:pic>
        <p:nvPicPr>
          <p:cNvPr id="9" name="Picture 8">
            <a:extLst>
              <a:ext uri="{FF2B5EF4-FFF2-40B4-BE49-F238E27FC236}">
                <a16:creationId xmlns:a16="http://schemas.microsoft.com/office/drawing/2014/main" id="{13934E7F-4AA8-4248-9295-6607930E8CA0}"/>
              </a:ext>
            </a:extLst>
          </p:cNvPr>
          <p:cNvPicPr>
            <a:picLocks noChangeAspect="1"/>
          </p:cNvPicPr>
          <p:nvPr/>
        </p:nvPicPr>
        <p:blipFill>
          <a:blip r:embed="rId2"/>
          <a:stretch>
            <a:fillRect/>
          </a:stretch>
        </p:blipFill>
        <p:spPr>
          <a:xfrm>
            <a:off x="278148" y="1115289"/>
            <a:ext cx="5351127" cy="48425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0DAFF5A6-544B-470D-8C84-6C07F349A1A9}"/>
              </a:ext>
            </a:extLst>
          </p:cNvPr>
          <p:cNvPicPr>
            <a:picLocks noChangeAspect="1"/>
          </p:cNvPicPr>
          <p:nvPr/>
        </p:nvPicPr>
        <p:blipFill>
          <a:blip r:embed="rId3"/>
          <a:stretch>
            <a:fillRect/>
          </a:stretch>
        </p:blipFill>
        <p:spPr>
          <a:xfrm>
            <a:off x="6376987" y="272327"/>
            <a:ext cx="4791075" cy="1685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1573C51A-C134-4F31-AB85-3BCA32EF8A5C}"/>
              </a:ext>
            </a:extLst>
          </p:cNvPr>
          <p:cNvPicPr>
            <a:picLocks noChangeAspect="1"/>
          </p:cNvPicPr>
          <p:nvPr/>
        </p:nvPicPr>
        <p:blipFill>
          <a:blip r:embed="rId4"/>
          <a:stretch>
            <a:fillRect/>
          </a:stretch>
        </p:blipFill>
        <p:spPr>
          <a:xfrm>
            <a:off x="5629275" y="2064111"/>
            <a:ext cx="6286500" cy="4352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38528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7993A-36B3-4376-8DA7-234814FE2231}"/>
              </a:ext>
            </a:extLst>
          </p:cNvPr>
          <p:cNvSpPr>
            <a:spLocks noGrp="1"/>
          </p:cNvSpPr>
          <p:nvPr>
            <p:ph type="title"/>
          </p:nvPr>
        </p:nvSpPr>
        <p:spPr/>
        <p:txBody>
          <a:bodyPr/>
          <a:lstStyle/>
          <a:p>
            <a:r>
              <a:rPr lang="en-IN" dirty="0"/>
              <a:t>Project Summary:</a:t>
            </a:r>
          </a:p>
        </p:txBody>
      </p:sp>
      <p:sp>
        <p:nvSpPr>
          <p:cNvPr id="3" name="Content Placeholder 2">
            <a:extLst>
              <a:ext uri="{FF2B5EF4-FFF2-40B4-BE49-F238E27FC236}">
                <a16:creationId xmlns:a16="http://schemas.microsoft.com/office/drawing/2014/main" id="{8C7BC8B7-28B7-42CB-BD58-C062B52AC0D8}"/>
              </a:ext>
            </a:extLst>
          </p:cNvPr>
          <p:cNvSpPr>
            <a:spLocks noGrp="1"/>
          </p:cNvSpPr>
          <p:nvPr>
            <p:ph idx="1"/>
          </p:nvPr>
        </p:nvSpPr>
        <p:spPr/>
        <p:txBody>
          <a:bodyPr>
            <a:normAutofit/>
          </a:bodyPr>
          <a:lstStyle/>
          <a:p>
            <a:r>
              <a:rPr lang="en-US" dirty="0"/>
              <a:t>In this project, we conducted a comprehensive sentiment analysis on social media data to uncover user emotions, platform activity, and engagement trends. By leveraging Python and data visualization tools, we identified the most common sentiments, top-performing hashtags, active posting hours, and regional distribution of posts. The insights derived from this analysis provide a deeper understanding of public mood and behavior across platforms, offering valuable guidance for content strategy, audience targeting, and digital engagement. Overall, the project demonstrates how data-driven approaches can turn raw social media information into meaningful and actionable insights.</a:t>
            </a:r>
            <a:endParaRPr lang="en-IN" dirty="0"/>
          </a:p>
        </p:txBody>
      </p:sp>
    </p:spTree>
    <p:extLst>
      <p:ext uri="{BB962C8B-B14F-4D97-AF65-F5344CB8AC3E}">
        <p14:creationId xmlns:p14="http://schemas.microsoft.com/office/powerpoint/2010/main" val="3866345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8CB8EF-F427-44F8-BD86-0288D7924B89}"/>
              </a:ext>
            </a:extLst>
          </p:cNvPr>
          <p:cNvSpPr>
            <a:spLocks noGrp="1"/>
          </p:cNvSpPr>
          <p:nvPr>
            <p:ph idx="1"/>
          </p:nvPr>
        </p:nvSpPr>
        <p:spPr/>
        <p:txBody>
          <a:bodyPr/>
          <a:lstStyle/>
          <a:p>
            <a:pPr marL="0" indent="0">
              <a:buNone/>
            </a:pPr>
            <a:r>
              <a:rPr lang="en-US" dirty="0"/>
              <a:t>Thank you</a:t>
            </a:r>
          </a:p>
          <a:p>
            <a:pPr marL="0" indent="0">
              <a:buNone/>
            </a:pPr>
            <a:r>
              <a:rPr lang="en-IN" dirty="0"/>
              <a:t>          -- Priya </a:t>
            </a:r>
            <a:r>
              <a:rPr lang="en-IN" dirty="0" err="1"/>
              <a:t>Rajurkar</a:t>
            </a:r>
            <a:endParaRPr lang="en-IN" dirty="0"/>
          </a:p>
        </p:txBody>
      </p:sp>
    </p:spTree>
    <p:extLst>
      <p:ext uri="{BB962C8B-B14F-4D97-AF65-F5344CB8AC3E}">
        <p14:creationId xmlns:p14="http://schemas.microsoft.com/office/powerpoint/2010/main" val="354985357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TM02892315[[fn=Wisp]]</Template>
  <TotalTime>22</TotalTime>
  <Words>508</Words>
  <Application>Microsoft Office PowerPoint</Application>
  <PresentationFormat>Widescreen</PresentationFormat>
  <Paragraphs>22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Wingdings 3</vt:lpstr>
      <vt:lpstr>zeitung</vt:lpstr>
      <vt:lpstr>Wisp</vt:lpstr>
      <vt:lpstr>Social Media-Analysis Sentiment </vt:lpstr>
      <vt:lpstr>Project Overview:</vt:lpstr>
      <vt:lpstr>Technologies Used:</vt:lpstr>
      <vt:lpstr>Step 1 – Importing Libraries and reading data </vt:lpstr>
      <vt:lpstr>Step 2 – Checking Data Types</vt:lpstr>
      <vt:lpstr>Step 3 – Finding Null Values</vt:lpstr>
      <vt:lpstr>Step 4- Insights </vt:lpstr>
      <vt:lpstr>PowerPoint Presentation</vt:lpstr>
      <vt:lpstr>PowerPoint Presentation</vt:lpstr>
      <vt:lpstr>PowerPoint Presentation</vt:lpstr>
      <vt:lpstr>PowerPoint Presentation</vt:lpstr>
      <vt:lpstr>PowerPoint Presentation</vt:lpstr>
      <vt:lpstr>Project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Media-Analysis Sentiment </dc:title>
  <dc:creator>priyarajurkar71@gmail.com</dc:creator>
  <cp:lastModifiedBy>priyarajurkar71@gmail.com</cp:lastModifiedBy>
  <cp:revision>1</cp:revision>
  <dcterms:created xsi:type="dcterms:W3CDTF">2025-04-05T02:49:33Z</dcterms:created>
  <dcterms:modified xsi:type="dcterms:W3CDTF">2025-04-05T03:12:00Z</dcterms:modified>
</cp:coreProperties>
</file>